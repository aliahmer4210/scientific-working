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22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53344" y="-402336"/>
            <a:ext cx="1536192" cy="1536192"/>
          </a:xfrm>
          <a:prstGeom prst="ellipse">
            <a:avLst/>
          </a:prstGeom>
          <a:ln w="19050">
            <a:solidFill>
              <a:srgbClr val="2FBAC7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85248" y="-1170432"/>
            <a:ext cx="3072384" cy="3072384"/>
          </a:xfrm>
          <a:prstGeom prst="ellipse">
            <a:avLst/>
          </a:prstGeom>
          <a:ln w="19050">
            <a:solidFill>
              <a:srgbClr val="2FBAC7">
                <a:alpha val="4425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17152" y="-1938528"/>
            <a:ext cx="4608576" cy="4608576"/>
          </a:xfrm>
          <a:prstGeom prst="ellipse">
            <a:avLst/>
          </a:prstGeom>
          <a:ln w="19050">
            <a:solidFill>
              <a:srgbClr val="2FBAC7">
                <a:alpha val="335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9056" y="-2706624"/>
            <a:ext cx="6144768" cy="6144768"/>
          </a:xfrm>
          <a:prstGeom prst="ellipse">
            <a:avLst/>
          </a:prstGeom>
          <a:ln w="19050">
            <a:solidFill>
              <a:srgbClr val="2FBAC7">
                <a:alpha val="2275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-3474720"/>
            <a:ext cx="7680960" cy="7680960"/>
          </a:xfrm>
          <a:prstGeom prst="ellipse">
            <a:avLst/>
          </a:prstGeom>
          <a:ln w="19050">
            <a:solidFill>
              <a:srgbClr val="2FBAC7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20040" y="6080760"/>
            <a:ext cx="1188720" cy="1188720"/>
          </a:xfrm>
          <a:prstGeom prst="ellipse">
            <a:avLst/>
          </a:prstGeom>
          <a:ln w="1905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914400" y="5486400"/>
            <a:ext cx="2377440" cy="2377440"/>
          </a:xfrm>
          <a:prstGeom prst="ellipse">
            <a:avLst/>
          </a:prstGeom>
          <a:ln w="19050">
            <a:solidFill>
              <a:srgbClr val="1C7293">
                <a:alpha val="33333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508760" y="4892040"/>
            <a:ext cx="3566160" cy="3566160"/>
          </a:xfrm>
          <a:prstGeom prst="ellipse">
            <a:avLst/>
          </a:prstGeom>
          <a:ln w="19050">
            <a:solidFill>
              <a:srgbClr val="1C7293">
                <a:alpha val="21667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103120" y="4297680"/>
            <a:ext cx="4754880" cy="4754880"/>
          </a:xfrm>
          <a:prstGeom prst="ellipse">
            <a:avLst/>
          </a:prstGeom>
          <a:ln w="19050">
            <a:solidFill>
              <a:srgbClr val="1C7293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234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AT THE CHAIR FOR EMBEDDED SYSTEMS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Siegen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057400"/>
            <a:ext cx="1828800" cy="0"/>
          </a:xfrm>
          <a:prstGeom prst="line">
            <a:avLst/>
          </a:prstGeom>
          <a:noFill/>
          <a:ln w="25400">
            <a:solidFill>
              <a:srgbClr val="2FBA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860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and Ultrasonic Leak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for Industrial Systems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2C5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Ahmer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1900040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9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Ali.Ahmer@student.uni-siegen.de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
</a:t>
            </a:r>
            <a:r>
              <a:rPr lang="sv-SE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ing Roman Obermaisser </a:t>
            </a:r>
          </a:p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Raj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5257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2646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2646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499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47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industrial leaks matter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33472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2706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Principles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054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emission &amp; ultrasonic sensing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404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1732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Techniques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2611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TDOA, MED, beamforming, virtual arrays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047488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04748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17320" y="5120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Technologies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468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sensors, MEMS microphones, Piezoelectric Ultrasonic Sensor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42646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142646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1499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Applications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0" y="1847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valves, vessels, plants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2633472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2633472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23760" y="2706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Imaging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3054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acoustic visualization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8404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38404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22376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Constraints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42611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open challenges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5047488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EF6F8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504748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223760" y="5120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&amp; Conclusion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23760" y="5468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is heading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6537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pipelines and pressure systems carry water, oil, natural gas, hydrogen, steam, and chemicals across large plants and long-distance networks. Corrosion, mechanical stress, fatigue, and accidental damage make leaks a persistent risk.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methods fall short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36392"/>
            <a:ext cx="82296" cy="822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63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inspection, pressure monitoring, infrared imaging, tracer-gas and mass-spectrometry methods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" cy="822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301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 and low sensitivity to small leaks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270248"/>
            <a:ext cx="82296" cy="822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1970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cost, often requiring a process shutdown to evaluate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78231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[3], [4]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084064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methods enable non-contact, non-destructive, real-time monitoring without disrupting plant operations. [3], [4]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325880"/>
            <a:ext cx="4434840" cy="4846320"/>
          </a:xfrm>
          <a:prstGeom prst="roundRect">
            <a:avLst>
              <a:gd name="adj" fmla="val 2062"/>
            </a:avLst>
          </a:prstGeom>
          <a:solidFill>
            <a:srgbClr val="0B3D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20400" y="5242560"/>
            <a:ext cx="1036320" cy="1036320"/>
          </a:xfrm>
          <a:prstGeom prst="ellipse">
            <a:avLst/>
          </a:prstGeom>
          <a:ln w="19050">
            <a:solidFill>
              <a:srgbClr val="2FBAC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02240" y="4724400"/>
            <a:ext cx="2072640" cy="2072640"/>
          </a:xfrm>
          <a:prstGeom prst="ellipse">
            <a:avLst/>
          </a:prstGeom>
          <a:ln w="19050">
            <a:solidFill>
              <a:srgbClr val="2FBAC7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4206240"/>
            <a:ext cx="3108960" cy="3108960"/>
          </a:xfrm>
          <a:prstGeom prst="ellipse">
            <a:avLst/>
          </a:prstGeom>
          <a:ln w="19050">
            <a:solidFill>
              <a:srgbClr val="2FBAC7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ENABLING MODERN LEAK DETECTION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2148840"/>
            <a:ext cx="54864" cy="777240"/>
          </a:xfrm>
          <a:prstGeom prst="roundRect">
            <a:avLst/>
          </a:prstGeom>
          <a:solidFill>
            <a:srgbClr val="2FBAC7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21214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18120" y="24414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isolates leak signatures from noise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3108960"/>
            <a:ext cx="54864" cy="777240"/>
          </a:xfrm>
          <a:prstGeom prst="roundRect">
            <a:avLst/>
          </a:prstGeom>
          <a:solidFill>
            <a:srgbClr val="2FBAC7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30815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818120" y="34015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classification of leak vs. non-leak signals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4069080"/>
            <a:ext cx="54864" cy="777240"/>
          </a:xfrm>
          <a:prstGeom prst="roundRect">
            <a:avLst/>
          </a:prstGeom>
          <a:solidFill>
            <a:srgbClr val="2FBAC7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40416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818120" y="43616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localization of leak sources in real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5029200"/>
            <a:ext cx="54864" cy="777240"/>
          </a:xfrm>
          <a:prstGeom prst="roundRect">
            <a:avLst/>
          </a:prstGeom>
          <a:solidFill>
            <a:srgbClr val="2FBAC7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5001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Sensors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818120" y="53218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low-cost, highly sensitive microphone arrays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60350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[2], [5], [6]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Principles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07326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EEF6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9844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72768"/>
            <a:ext cx="54406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984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Emission (AE)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elastic waves released when pressurized fluid escapes through a crack or defect. Turbulent flow, pressure changes, and structural vibration travel through the pipe wall to a sensor.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1821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3163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occurs at a crack / opening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5478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35295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flow generates acoustic waves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8953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travel through pipe wall &amp; fluid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27939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42611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sensors detect the vibrations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64515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4626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isolates leak features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0109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010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" y="49926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algorithm finds the position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05332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[2], [6]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45352" y="1298448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EE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129844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9A23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45352" y="1572768"/>
            <a:ext cx="5440680" cy="2926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12984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Leak Detection (ULD)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3952" y="20116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frequencies above ~20 kHz. Escaping gas forms high-velocity turbulent jets that emit ultrasonic energy centered around 40 kHz — well separated from industrial background noise.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73952" y="31821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67144" y="3163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Pressurized gas escapes through a defect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73952" y="35478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67144" y="35295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 generates ultrasonic signals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73952" y="391363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67144" y="38953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microphone array captures signals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73952" y="427939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67144" y="42611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analyzes spatial data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73952" y="464515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67144" y="4626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source is identified &amp; visualized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73952" y="605332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[3], [4], [5]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 Localization 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EE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" y="15270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Difference of Arrival (TDOA)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1234440" cy="173736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200" b="1" dirty="0">
                <a:solidFill>
                  <a:srgbClr val="12B5C9"/>
                </a:solidFill>
                <a:latin typeface="Aptos Display"/>
              </a:rPr>
              <a:t>      </a:t>
            </a:r>
            <a:r>
              <a:rPr sz="2200" b="1" dirty="0">
                <a:solidFill>
                  <a:srgbClr val="12B5C9"/>
                </a:solidFill>
                <a:latin typeface="Aptos Display"/>
              </a:rPr>
              <a:t>&lt;4%</a:t>
            </a:r>
          </a:p>
        </p:txBody>
      </p:sp>
      <p:sp>
        <p:nvSpPr>
          <p:cNvPr id="12" name="Text 10"/>
          <p:cNvSpPr/>
          <p:nvPr/>
        </p:nvSpPr>
        <p:spPr>
          <a:xfrm>
            <a:off x="4636008" y="237744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50">
                <a:solidFill>
                  <a:srgbClr val="DCEBF2"/>
                </a:solidFill>
                <a:latin typeface="Aptos"/>
              </a:rPr>
              <a:t>reported localization error</a:t>
            </a:r>
          </a:p>
        </p:txBody>
      </p:sp>
      <p:sp>
        <p:nvSpPr>
          <p:cNvPr id="13" name="Text 11"/>
          <p:cNvSpPr/>
          <p:nvPr/>
        </p:nvSpPr>
        <p:spPr>
          <a:xfrm>
            <a:off x="658368" y="33649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 generated by using ChatGPT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EE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10528" y="15270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1052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1508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Entropy Deconvolution (MED)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10528" y="214884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424160" y="1508760"/>
            <a:ext cx="1234440" cy="173736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42416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88168" y="237744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+ dispersion filtering outperforms cross-correlation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10528" y="33649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generated by using ChatGPT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EEF6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8368" y="4133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836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Based Acoustic Imaging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" y="4754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572000" y="4114800"/>
            <a:ext cx="1234440" cy="173736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572000" y="4434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36008" y="498348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imaging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5971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generated by using ChatGPT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4073652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EE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10528" y="4133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1052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3232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Ultrasonic Sensor Arrays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10528" y="4754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0424160" y="4114800"/>
            <a:ext cx="1234440" cy="173736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424160" y="4434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200" b="1" dirty="0">
                <a:solidFill>
                  <a:srgbClr val="12B5C9"/>
                </a:solidFill>
                <a:latin typeface="Aptos Display"/>
              </a:rPr>
              <a:t>       </a:t>
            </a:r>
            <a:r>
              <a:rPr sz="2200" b="1" dirty="0">
                <a:solidFill>
                  <a:srgbClr val="12B5C9"/>
                </a:solidFill>
                <a:latin typeface="Aptos Display"/>
              </a:rPr>
              <a:t>&lt;1°</a:t>
            </a:r>
          </a:p>
        </p:txBody>
      </p:sp>
      <p:sp>
        <p:nvSpPr>
          <p:cNvPr id="39" name="Text 37"/>
          <p:cNvSpPr/>
          <p:nvPr/>
        </p:nvSpPr>
        <p:spPr>
          <a:xfrm>
            <a:off x="10488168" y="498348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50">
                <a:solidFill>
                  <a:srgbClr val="DCEBF2"/>
                </a:solidFill>
                <a:latin typeface="Aptos"/>
              </a:rPr>
              <a:t>reported average error</a:t>
            </a:r>
          </a:p>
        </p:txBody>
      </p:sp>
      <p:sp>
        <p:nvSpPr>
          <p:cNvPr id="40" name="Text 38"/>
          <p:cNvSpPr/>
          <p:nvPr/>
        </p:nvSpPr>
        <p:spPr>
          <a:xfrm>
            <a:off x="6510528" y="5971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generated by </a:t>
            </a:r>
            <a:r>
              <a:rPr lang="en-US" sz="900" i="1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ChatGPT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43" name="Picture 42" descr="tdo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03120"/>
            <a:ext cx="3794760" cy="9601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58368" y="3108959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1B3041"/>
                </a:solidFill>
                <a:latin typeface="Aptos"/>
              </a:rPr>
              <a:t>Arrival-time difference → source position  [1]</a:t>
            </a:r>
          </a:p>
        </p:txBody>
      </p:sp>
      <p:pic>
        <p:nvPicPr>
          <p:cNvPr id="45" name="Picture 44" descr="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103120"/>
            <a:ext cx="3794760" cy="9601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10528" y="3108959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1B3041"/>
                </a:solidFill>
                <a:latin typeface="Aptos"/>
              </a:rPr>
              <a:t>Sharpens impulsive leak features for first-arrival detection  [1]</a:t>
            </a:r>
          </a:p>
        </p:txBody>
      </p:sp>
      <p:pic>
        <p:nvPicPr>
          <p:cNvPr id="47" name="Picture 46" descr="beamform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709160"/>
            <a:ext cx="3794760" cy="9601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8368" y="5715000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1B3041"/>
                </a:solidFill>
                <a:latin typeface="Aptos"/>
              </a:rPr>
              <a:t>Align signals across the array → estimate source direction  [5]</a:t>
            </a:r>
          </a:p>
        </p:txBody>
      </p:sp>
      <p:pic>
        <p:nvPicPr>
          <p:cNvPr id="49" name="Picture 48" descr="virtual_ar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709160"/>
            <a:ext cx="3794760" cy="9601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510528" y="5715000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1B3041"/>
                </a:solidFill>
                <a:latin typeface="Aptos"/>
              </a:rPr>
              <a:t>Scanning positions emulate a larger spatial array 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331720" cy="4572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371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32120" y="1371600"/>
            <a:ext cx="5349240" cy="4572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5641848" y="13716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881360" y="1371600"/>
            <a:ext cx="896112" cy="4572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91088" y="13716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Emission Sensor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828800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8288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R15-AST / R15I-AST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182880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1848" y="182880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50–400 kHz range; resonance at 75 &amp; 150 kHz; ~109 dB peak sensitivity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881360" y="1828800"/>
            <a:ext cx="89611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91088" y="1828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32888"/>
            <a:ext cx="2743200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54203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Microphone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2542032"/>
            <a:ext cx="2331720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54203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SPH0641LU4H-1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32120" y="2542032"/>
            <a:ext cx="5349240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848" y="2542032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Hz–80 kHz range; sensitivity ≈ −38 dBV/Pa; compact &amp; low power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881360" y="2542032"/>
            <a:ext cx="896112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91088" y="2542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[4], [5]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255264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25526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Ultrasonic Sensor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0" y="3255264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25526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FUS-40CR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32120" y="3255264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41848" y="3255264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kHz center frequency; 0.2–6 m range; ~50° directivity; ≈ −16 dB sensitivity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881360" y="3255264"/>
            <a:ext cx="89611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91088" y="3255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968496"/>
            <a:ext cx="2743200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6928" y="396849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Acoustic Sensor Node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0" y="3968496"/>
            <a:ext cx="2331720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96849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pipeline nodes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32120" y="3968496"/>
            <a:ext cx="5349240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41848" y="3968496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power, low maintenance, easy deployment over long networks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881360" y="3968496"/>
            <a:ext cx="896112" cy="713232"/>
          </a:xfrm>
          <a:prstGeom prst="rect">
            <a:avLst/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91088" y="39684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0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6817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310128" y="46817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41848" y="4681728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991088" y="46817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6928" y="5394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310128" y="53949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41848" y="539496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991088" y="5394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Applications &amp; Use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EE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Pipelines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ML-assisted AE systems exceed 99% leak-detection accuracy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621792" y="322783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9856" y="1353312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EE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Transmission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84448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ultrasonic turbulence signals enable remote leak siting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584448" y="322783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[3], [4]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82512" y="1353312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EE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7104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4710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47104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Valve Leakage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47104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inspection without disassembly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547104" y="322783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[6]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09760" y="20116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509760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509760" y="322783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EE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3867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" y="4361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Processing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1792" y="48737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of hazardous gas leaks &amp; spills for operator safety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21792" y="55778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19856" y="370332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EEF6F8"/>
          </a:solidFill>
          <a:ln/>
        </p:spPr>
      </p:sp>
      <p:sp>
        <p:nvSpPr>
          <p:cNvPr id="36" name="Shape 34"/>
          <p:cNvSpPr/>
          <p:nvPr/>
        </p:nvSpPr>
        <p:spPr>
          <a:xfrm>
            <a:off x="3584448" y="3867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84448" y="4361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Facilities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584448" y="48737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inspection in zones hazardous to human access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3584448" y="55778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82512" y="370332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EEF6F8"/>
          </a:solidFill>
          <a:ln/>
        </p:spPr>
      </p:sp>
      <p:sp>
        <p:nvSpPr>
          <p:cNvPr id="42" name="Shape 40"/>
          <p:cNvSpPr/>
          <p:nvPr/>
        </p:nvSpPr>
        <p:spPr>
          <a:xfrm>
            <a:off x="6547104" y="3867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43" name="Text 41"/>
          <p:cNvSpPr/>
          <p:nvPr/>
        </p:nvSpPr>
        <p:spPr>
          <a:xfrm>
            <a:off x="6547104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47104" y="4361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Vessels &amp; Tanks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547104" y="48737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98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corrosion &amp; fatigue emissions before catastrophic failure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547104" y="55778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[3], [5]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50976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509760" y="4361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509760" y="4873752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509760" y="55778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studies apply machine learning to automatically classify and diagnose leaks — enabling automatic feature extraction, higher classification accuracy, fewer false alarms, and real-time decision-making.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applied in the literature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(ANN)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794760" y="3154680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(RF)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0390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(DT)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794760" y="3803904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EEF6F8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380390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7200" y="44531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1371600"/>
            <a:ext cx="4434840" cy="4709160"/>
          </a:xfrm>
          <a:prstGeom prst="roundRect">
            <a:avLst>
              <a:gd name="adj" fmla="val 2062"/>
            </a:avLst>
          </a:prstGeom>
          <a:solidFill>
            <a:srgbClr val="0B3D5C"/>
          </a:solidFill>
          <a:ln/>
        </p:spPr>
      </p:sp>
      <p:sp>
        <p:nvSpPr>
          <p:cNvPr id="19" name="Shape 17"/>
          <p:cNvSpPr/>
          <p:nvPr/>
        </p:nvSpPr>
        <p:spPr>
          <a:xfrm>
            <a:off x="7254240" y="1310640"/>
            <a:ext cx="853440" cy="853440"/>
          </a:xfrm>
          <a:prstGeom prst="ellipse">
            <a:avLst/>
          </a:prstGeom>
          <a:ln w="19050">
            <a:solidFill>
              <a:srgbClr val="2FBAC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27520" y="883920"/>
            <a:ext cx="1706880" cy="1706880"/>
          </a:xfrm>
          <a:prstGeom prst="ellipse">
            <a:avLst/>
          </a:prstGeom>
          <a:ln w="19050">
            <a:solidFill>
              <a:srgbClr val="2FBAC7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57200"/>
            <a:ext cx="2560320" cy="2560320"/>
          </a:xfrm>
          <a:prstGeom prst="ellipse">
            <a:avLst/>
          </a:prstGeom>
          <a:ln w="19050">
            <a:solidFill>
              <a:srgbClr val="2FBAC7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6916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CLASSIFICATION ACCURACY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35240" y="21488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99–100%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7635240" y="32004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acoustic-emission or ultrasonic data are combined with machine-learning classifiers</a:t>
            </a:r>
            <a:br>
              <a:rPr lang="en-US" sz="1200" i="1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i="1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 </a:t>
            </a:r>
            <a:r>
              <a:rPr lang="en-US" sz="1200" i="1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</a:t>
            </a:r>
            <a:r>
              <a:rPr lang="en-US" sz="1200" i="1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literature]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4160520"/>
            <a:ext cx="3794760" cy="0"/>
          </a:xfrm>
          <a:prstGeom prst="line">
            <a:avLst/>
          </a:prstGeom>
          <a:noFill/>
          <a:ln w="12700">
            <a:solidFill>
              <a:srgbClr val="2C5A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35240" y="46177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feature extraction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35240" y="49469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Higher classification accuracy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35240" y="52760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Fewer false alarms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35240" y="56052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decision-making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35240" y="59436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EEF6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27632"/>
            <a:ext cx="3657600" cy="2743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185416"/>
            <a:ext cx="73152" cy="73152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756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35224"/>
            <a:ext cx="73152" cy="73152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2549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localization 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73152" cy="73152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753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leaks as low as 24 mL/min at 0.5 m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73152" cy="73152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251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operation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184648"/>
            <a:ext cx="73152" cy="73152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74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failure identification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952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[3], [5]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5968" y="1353312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EE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315968" y="1353312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315968" y="1627632"/>
            <a:ext cx="36576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44568" y="1353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218541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20756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— no disassembly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44568" y="293522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282549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shutdown needed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44568" y="36850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727448" y="35753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 costs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44568" y="44348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727448" y="43251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worker safety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44568" y="518464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727448" y="5074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retrofit to existing pipework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44568" y="5952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[2], [4], [6]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74736" y="1353312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EEF6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174736" y="1353312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2E8B8B"/>
          </a:solidFill>
          <a:ln/>
        </p:spPr>
      </p:sp>
      <p:sp>
        <p:nvSpPr>
          <p:cNvPr id="37" name="Shape 35"/>
          <p:cNvSpPr/>
          <p:nvPr/>
        </p:nvSpPr>
        <p:spPr>
          <a:xfrm>
            <a:off x="8174736" y="1627632"/>
            <a:ext cx="3657600" cy="27432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38" name="Text 36"/>
          <p:cNvSpPr/>
          <p:nvPr/>
        </p:nvSpPr>
        <p:spPr>
          <a:xfrm>
            <a:off x="8403336" y="1353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403336" y="2185416"/>
            <a:ext cx="73152" cy="73152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40" name="Text 38"/>
          <p:cNvSpPr/>
          <p:nvPr/>
        </p:nvSpPr>
        <p:spPr>
          <a:xfrm>
            <a:off x="8586216" y="20756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product losses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03336" y="2935224"/>
            <a:ext cx="73152" cy="73152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42" name="Text 40"/>
          <p:cNvSpPr/>
          <p:nvPr/>
        </p:nvSpPr>
        <p:spPr>
          <a:xfrm>
            <a:off x="8586216" y="282549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repair costs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03336" y="3685032"/>
            <a:ext cx="73152" cy="73152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44" name="Text 42"/>
          <p:cNvSpPr/>
          <p:nvPr/>
        </p:nvSpPr>
        <p:spPr>
          <a:xfrm>
            <a:off x="8586216" y="35753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operational downtime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03336" y="4434840"/>
            <a:ext cx="73152" cy="73152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46" name="Text 44"/>
          <p:cNvSpPr/>
          <p:nvPr/>
        </p:nvSpPr>
        <p:spPr>
          <a:xfrm>
            <a:off x="8586216" y="43251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asset longevity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03336" y="5184648"/>
            <a:ext cx="73152" cy="73152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48" name="Text 46"/>
          <p:cNvSpPr/>
          <p:nvPr/>
        </p:nvSpPr>
        <p:spPr>
          <a:xfrm>
            <a:off x="8586216" y="5074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overall plant efficiency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&amp; Challenges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768096"/>
          </a:xfrm>
          <a:prstGeom prst="roundRect">
            <a:avLst>
              <a:gd name="adj" fmla="val 8333"/>
            </a:avLst>
          </a:prstGeom>
          <a:solidFill>
            <a:srgbClr val="EE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99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2646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Noise Interference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1426464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Motors, compressors, fans and pumps create acoustic interference that complicates signal extraction and can trigger false alarms.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835640" y="142646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[4], [6]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1127455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957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32257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Signal Characteristics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2322576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Leak-signal features shift with pressure, temperature, gas type, velocity, geometry and material.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835640" y="23225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[3], [6]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11274552" cy="768096"/>
          </a:xfrm>
          <a:prstGeom prst="roundRect">
            <a:avLst>
              <a:gd name="adj" fmla="val 8333"/>
            </a:avLst>
          </a:prstGeom>
          <a:solidFill>
            <a:srgbClr val="EE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21868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Placement Sensitivity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60520" y="321868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accuracy depends heavily on sensor spacing, quantity and array geometry — poor installation sharply reduces accuracy.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835640" y="321868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[3], [5]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59936"/>
            <a:ext cx="1127455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3E4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11480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60520" y="4114800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</a:t>
            </a:r>
            <a:r>
              <a:rPr lang="en-US" sz="10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demand considerable processing resources.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0835640" y="411480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[3], [5]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34440" y="501091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160520" y="501091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0835640" y="501091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Research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4996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deep-learning leak diagnosis &amp; localization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353312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45936" y="14996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68312" y="135331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inspection robots for hazardous zones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" y="250545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235915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IoT-enabled sensor networks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2359152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45936" y="250545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68312" y="235915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for continuous asset surveillance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" y="35112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336499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MEMS arrays &amp; beamforming algorithms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3364992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5936" y="35112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27" name="Text 25"/>
          <p:cNvSpPr/>
          <p:nvPr/>
        </p:nvSpPr>
        <p:spPr>
          <a:xfrm>
            <a:off x="6345936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68312" y="336499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data fusion (acoustic + more)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325880" y="437083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45936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068312" y="437083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325880" y="537667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45936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068312" y="537667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272784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[3], [5], [6]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" y="-411480"/>
            <a:ext cx="1188720" cy="1188720"/>
          </a:xfrm>
          <a:prstGeom prst="ellipse">
            <a:avLst/>
          </a:prstGeom>
          <a:ln w="19050">
            <a:solidFill>
              <a:srgbClr val="2FBA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05840"/>
            <a:ext cx="2377440" cy="2377440"/>
          </a:xfrm>
          <a:prstGeom prst="ellipse">
            <a:avLst/>
          </a:prstGeom>
          <a:ln w="19050">
            <a:solidFill>
              <a:srgbClr val="2FBAC7">
                <a:alpha val="33333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00200" y="-1600200"/>
            <a:ext cx="3566160" cy="3566160"/>
          </a:xfrm>
          <a:prstGeom prst="ellipse">
            <a:avLst/>
          </a:prstGeom>
          <a:ln w="19050">
            <a:solidFill>
              <a:srgbClr val="2FBAC7">
                <a:alpha val="21667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94560" y="-2194560"/>
            <a:ext cx="4754880" cy="4754880"/>
          </a:xfrm>
          <a:prstGeom prst="ellipse">
            <a:avLst/>
          </a:prstGeom>
          <a:ln w="19050">
            <a:solidFill>
              <a:srgbClr val="2FBAC7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6080760"/>
            <a:ext cx="1188720" cy="1188720"/>
          </a:xfrm>
          <a:prstGeom prst="ellipse">
            <a:avLst/>
          </a:prstGeom>
          <a:ln w="1905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5486400"/>
            <a:ext cx="2377440" cy="2377440"/>
          </a:xfrm>
          <a:prstGeom prst="ellipse">
            <a:avLst/>
          </a:prstGeom>
          <a:ln w="19050">
            <a:solidFill>
              <a:srgbClr val="1C7293">
                <a:alpha val="33333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95560" y="4892040"/>
            <a:ext cx="3566160" cy="3566160"/>
          </a:xfrm>
          <a:prstGeom prst="ellipse">
            <a:avLst/>
          </a:prstGeom>
          <a:ln w="19050">
            <a:solidFill>
              <a:srgbClr val="1C7293">
                <a:alpha val="21667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4297680"/>
            <a:ext cx="4754880" cy="4754880"/>
          </a:xfrm>
          <a:prstGeom prst="ellipse">
            <a:avLst/>
          </a:prstGeom>
          <a:ln w="19050">
            <a:solidFill>
              <a:srgbClr val="1C7293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51206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498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14630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Emission techniques precisely detect structural flaws and fluid leaks, while ultrasonic methods enable accurate remote identification and visualization of leak origins — supported by advances in signal processing, beamforming, machine learning, and MEMS sensors.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challenges from external noise, nonlinear leak behavior, computational complexity, and limited public datasets, acoustic and ultrasonic techniques remain among the most promising technologies for intelligent industrial monitoring — increasingly powered by AI, IoT, edge computing, and autonomous inspection.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146304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F4A6D"/>
          </a:solidFill>
          <a:ln/>
        </p:spPr>
      </p:sp>
      <p:sp>
        <p:nvSpPr>
          <p:cNvPr id="16" name="Text 14"/>
          <p:cNvSpPr/>
          <p:nvPr/>
        </p:nvSpPr>
        <p:spPr>
          <a:xfrm>
            <a:off x="7653528" y="1554480"/>
            <a:ext cx="3118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653528" y="206654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error (imaging)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0" y="2697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F4A6D"/>
          </a:solidFill>
          <a:ln/>
        </p:spPr>
      </p:sp>
      <p:sp>
        <p:nvSpPr>
          <p:cNvPr id="19" name="Text 17"/>
          <p:cNvSpPr/>
          <p:nvPr/>
        </p:nvSpPr>
        <p:spPr>
          <a:xfrm>
            <a:off x="7653528" y="2788920"/>
            <a:ext cx="3118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653528" y="330098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localization error (TDOA)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393192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F4A6D"/>
          </a:solidFill>
          <a:ln/>
        </p:spPr>
      </p:sp>
      <p:sp>
        <p:nvSpPr>
          <p:cNvPr id="22" name="Text 20"/>
          <p:cNvSpPr/>
          <p:nvPr/>
        </p:nvSpPr>
        <p:spPr>
          <a:xfrm>
            <a:off x="7653528" y="4023360"/>
            <a:ext cx="3118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99%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53528" y="453542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516636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F4A6D"/>
          </a:solidFill>
          <a:ln/>
        </p:spPr>
      </p:sp>
      <p:sp>
        <p:nvSpPr>
          <p:cNvPr id="25" name="Text 23"/>
          <p:cNvSpPr/>
          <p:nvPr/>
        </p:nvSpPr>
        <p:spPr>
          <a:xfrm>
            <a:off x="7653528" y="5257800"/>
            <a:ext cx="3118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A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mL/min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53528" y="576986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detected leak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6263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[1], [2], [3], [5]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28016" cy="128016"/>
          </a:xfrm>
          <a:prstGeom prst="ellipse">
            <a:avLst/>
          </a:prstGeom>
          <a:solidFill>
            <a:srgbClr val="2FBA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94944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Gao, F. Piltan, and J.-M. Kim, "A Hybrid Leak Localization Approach Using Acoustic Emission for Industrial Pipelines," Sensors, vol. 22, no. 10, p. 3963, 2022.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Ullah, Z. Ahmed, and J.-M. Kim, "Pipeline Leakage Detection Using Acoustic Emission and Machine Learning Algorithms," Sensors, vol. 23, no. 6, p. 3226, 2023.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51176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Liang, K. Yang, M. Feng, K. Mu, M. Jiao, and L. Li, "Acoustic Imaging Method for Gas Leak Detection and Localization Using Virtual Ultrasonic Sensor Array," Sensors, vol. 24, no. 5, p. 1366, 2024.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18104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C. Lee, Y. R. Choi, and J. W. Cho, "Pipe Leakage Detection Using Ultrasonic Acoustic Signals," Sensors and Actuators A: Physical, vol. 349, p. 114061, 2023.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Wang, J. Ji, J. Lan, and B. Wang, "Ultrasonic Beamforming-Based Visual Localisation of Minor and Multiple Gas Leaks Using a MEMS Microphone Array," Sensors, vol. 25, no. 10, p. 3190, 2025.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251960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Zheng, X. Wang, L. Yang, Y. Li, H. Xia, H. Zhang, and X. Xiang, "Review of Acoustic Emission Detection Technology for Valve Internal Leakage: Mechanisms, Methods, Challenges and Application Prospects," Sensors, vol. 25, no. 14, p. 4487, 2025.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956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&amp; Ultrasonic Leak Detection  |  University of Siegen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1996" y="2636520"/>
            <a:ext cx="1584960" cy="1584960"/>
          </a:xfrm>
          <a:prstGeom prst="ellipse">
            <a:avLst/>
          </a:prstGeom>
          <a:ln w="19050">
            <a:solidFill>
              <a:srgbClr val="2FBAC7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09516" y="1844040"/>
            <a:ext cx="3169920" cy="3169920"/>
          </a:xfrm>
          <a:prstGeom prst="ellipse">
            <a:avLst/>
          </a:prstGeom>
          <a:ln w="19050">
            <a:solidFill>
              <a:srgbClr val="2FBAC7">
                <a:alpha val="294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17036" y="1051560"/>
            <a:ext cx="4754880" cy="4754880"/>
          </a:xfrm>
          <a:prstGeom prst="ellipse">
            <a:avLst/>
          </a:prstGeom>
          <a:ln w="19050">
            <a:solidFill>
              <a:srgbClr val="2FBAC7">
                <a:alpha val="238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4556" y="259080"/>
            <a:ext cx="6339840" cy="6339840"/>
          </a:xfrm>
          <a:prstGeom prst="ellipse">
            <a:avLst/>
          </a:prstGeom>
          <a:ln w="19050">
            <a:solidFill>
              <a:srgbClr val="2FBAC7">
                <a:alpha val="182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2076" y="-533400"/>
            <a:ext cx="7924800" cy="7924800"/>
          </a:xfrm>
          <a:prstGeom prst="ellipse">
            <a:avLst/>
          </a:prstGeom>
          <a:ln w="19050">
            <a:solidFill>
              <a:srgbClr val="2FBAC7">
                <a:alpha val="126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9596" y="-1325880"/>
            <a:ext cx="9509760" cy="9509760"/>
          </a:xfrm>
          <a:prstGeom prst="ellipse">
            <a:avLst/>
          </a:prstGeom>
          <a:ln w="19050">
            <a:solidFill>
              <a:srgbClr val="2FBAC7">
                <a:alpha val="7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4648" y="4114800"/>
            <a:ext cx="1828800" cy="0"/>
          </a:xfrm>
          <a:prstGeom prst="line">
            <a:avLst/>
          </a:prstGeom>
          <a:noFill/>
          <a:ln w="19050">
            <a:solidFill>
              <a:srgbClr val="2C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43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Ahmer   |   Ali.Ahmer@student.uni-siegen.de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for Embedded Systems  ·  University of Siegen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1767</Words>
  <Application>Microsoft Office PowerPoint</Application>
  <PresentationFormat>Widescreen</PresentationFormat>
  <Paragraphs>300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29</cp:revision>
  <dcterms:created xsi:type="dcterms:W3CDTF">2026-08-23T11:25:26Z</dcterms:created>
  <dcterms:modified xsi:type="dcterms:W3CDTF">2026-08-28T11:44:10Z</dcterms:modified>
</cp:coreProperties>
</file>